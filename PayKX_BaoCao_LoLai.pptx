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thuần (Tỷ VND)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Sheet1!$A$2:$A$6</c:f>
              <c:strCache>
                <c:ptCount val="5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  <c:pt idx="4">
                  <c:v>T05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7.28</c:v>
                </c:pt>
                <c:pt idx="1">
                  <c:v>8.01</c:v>
                </c:pt>
                <c:pt idx="2">
                  <c:v>9.36</c:v>
                </c:pt>
                <c:pt idx="3">
                  <c:v>10.5</c:v>
                </c:pt>
                <c:pt idx="4">
                  <c:v>12.45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>
                  <a:solidFill>
                    <a:srgbClr val="0F172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 chi phí T05/2024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Phí đối tác &amp; NH (46%)</c:v>
                </c:pt>
                <c:pt idx="1">
                  <c:v>Vận hành (28%)</c:v>
                </c:pt>
                <c:pt idx="2">
                  <c:v>Marketing (16%)</c:v>
                </c:pt>
                <c:pt idx="3">
                  <c:v>Khác (10%)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28</c:v>
                </c:pt>
                <c:pt idx="2">
                  <c:v>16</c:v>
                </c:pt>
                <c:pt idx="3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6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5029200" cy="43891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4400" b="1">
                <a:solidFill>
                  <a:srgbClr val="FFFFFF"/>
                </a:solidFill>
                <a:latin typeface="DejaVu Sans"/>
              </a:rPr>
              <a:t>BÁO CÁO KẾT QUẢ KINH DOANH
THÁNG 05/2024</a:t>
            </a:r>
          </a:p>
          <a:p>
            <a:pPr>
              <a:spcAft>
                <a:spcPts val="2000"/>
              </a:spcAft>
            </a:pPr>
            <a:r>
              <a:rPr sz="3200">
                <a:solidFill>
                  <a:srgbClr val="93C5FD"/>
                </a:solidFill>
                <a:latin typeface="DejaVu Sans"/>
              </a:rPr>
              <a:t>Dự án Ví điện tử PayKX</a:t>
            </a:r>
          </a:p>
          <a:p>
            <a:r>
              <a:rPr sz="3000">
                <a:solidFill>
                  <a:srgbClr val="CBD5E1"/>
                </a:solidFill>
                <a:latin typeface="DejaVu Sans"/>
              </a:rPr>
              <a:t>Lớp: CNTT2 | Session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417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3A8A"/>
                </a:solidFill>
                <a:latin typeface="DejaVu Sans"/>
              </a:rPr>
              <a:t>Lợi nhuận sau thuế tăng 32,5%, đạt 2,95 tỷ VND trong tháng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212080" cy="1828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334155"/>
                </a:solidFill>
                <a:latin typeface="DejaVu Sans"/>
              </a:rPr>
              <a:t>Doanh thu thuần</a:t>
            </a:r>
          </a:p>
          <a:p>
            <a:r>
              <a:rPr sz="3800" b="1">
                <a:solidFill>
                  <a:srgbClr val="2563EB"/>
                </a:solidFill>
                <a:latin typeface="DejaVu Sans"/>
              </a:rPr>
              <a:t>12,68 Tỷ (+19,2%)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103120"/>
            <a:ext cx="5212080" cy="1828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334155"/>
                </a:solidFill>
                <a:latin typeface="DejaVu Sans"/>
              </a:rPr>
              <a:t>Tổng chi phí</a:t>
            </a:r>
          </a:p>
          <a:p>
            <a:r>
              <a:rPr sz="3800" b="1">
                <a:solidFill>
                  <a:srgbClr val="15803D"/>
                </a:solidFill>
                <a:latin typeface="DejaVu Sans"/>
              </a:rPr>
              <a:t>7,35 Tỷ (+13,0%)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5212080" cy="1828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334155"/>
                </a:solidFill>
                <a:latin typeface="DejaVu Sans"/>
              </a:rPr>
              <a:t>Lợi nhuận gộp</a:t>
            </a:r>
          </a:p>
          <a:p>
            <a:r>
              <a:rPr sz="3800" b="1">
                <a:solidFill>
                  <a:srgbClr val="6D28D9"/>
                </a:solidFill>
                <a:latin typeface="DejaVu Sans"/>
              </a:rPr>
              <a:t>5,33 Tỷ (+28,1%)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251960"/>
            <a:ext cx="5212080" cy="1828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334155"/>
                </a:solidFill>
                <a:latin typeface="DejaVu Sans"/>
              </a:rPr>
              <a:t>Lợi nhuận sau thuế</a:t>
            </a:r>
          </a:p>
          <a:p>
            <a:r>
              <a:rPr sz="3800" b="1">
                <a:solidFill>
                  <a:srgbClr val="D97706"/>
                </a:solidFill>
                <a:latin typeface="DejaVu Sans"/>
              </a:rPr>
              <a:t>2,95 Tỷ (+32,5%)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417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3A8A"/>
                </a:solidFill>
                <a:latin typeface="DejaVu Sans"/>
              </a:rPr>
              <a:t>Doanh thu tăng 19,2% nhờ mở rộng ưu đãi sinh viên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103120"/>
          <a:ext cx="6583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35240" y="2148840"/>
            <a:ext cx="3794760" cy="3931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377440"/>
            <a:ext cx="333756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2563EB"/>
                </a:solidFill>
                <a:latin typeface="DejaVu Sans"/>
              </a:rPr>
              <a:t>Đỉnh T05/2024:</a:t>
            </a:r>
          </a:p>
          <a:p>
            <a:pPr>
              <a:spcAft>
                <a:spcPts val="1400"/>
              </a:spcAft>
            </a:pPr>
            <a:r>
              <a:rPr sz="3600" b="1">
                <a:solidFill>
                  <a:srgbClr val="0F172A"/>
                </a:solidFill>
                <a:latin typeface="DejaVu Sans"/>
              </a:rPr>
              <a:t>12,68 Tỷ VND</a:t>
            </a:r>
          </a:p>
          <a:p>
            <a:r>
              <a:rPr sz="3000">
                <a:solidFill>
                  <a:srgbClr val="15803D"/>
                </a:solidFill>
                <a:latin typeface="DejaVu Sans"/>
              </a:rPr>
              <a:t>Tăng +74% so với đầu năm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417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3A8A"/>
                </a:solidFill>
                <a:latin typeface="DejaVu Sans"/>
              </a:rPr>
              <a:t>Phí ngân hàng vẫn là khoản chi lớn nhất trong tháng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103120"/>
          <a:ext cx="6583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2286000"/>
            <a:ext cx="3794760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2563EB"/>
                </a:solidFill>
                <a:latin typeface="DejaVu Sans"/>
              </a:rPr>
              <a:t>Tổng phí NH:</a:t>
            </a:r>
          </a:p>
          <a:p>
            <a:pPr>
              <a:spcAft>
                <a:spcPts val="1400"/>
              </a:spcAft>
            </a:pPr>
            <a:r>
              <a:rPr sz="3600" b="1">
                <a:solidFill>
                  <a:srgbClr val="0F172A"/>
                </a:solidFill>
                <a:latin typeface="DejaVu Sans"/>
              </a:rPr>
              <a:t>104,20 Triệu</a:t>
            </a:r>
          </a:p>
          <a:p>
            <a:r>
              <a:rPr sz="3000">
                <a:solidFill>
                  <a:srgbClr val="334155"/>
                </a:solidFill>
                <a:latin typeface="DejaVu Sans"/>
              </a:rPr>
              <a:t>642.518 GD thành công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2926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2400"/>
              </a:spcAft>
            </a:pPr>
            <a:r>
              <a:rPr sz="3400" b="1">
                <a:solidFill>
                  <a:srgbClr val="FFFFFF"/>
                </a:solidFill>
                <a:latin typeface="DejaVu Sans"/>
              </a:rPr>
              <a:t>Doanh thu tăng tốt – Kiểm soát chi phí – Lợi nhuận cải thiện</a:t>
            </a:r>
          </a:p>
          <a:p>
            <a:pPr algn="ctr"/>
            <a:r>
              <a:rPr sz="3000">
                <a:solidFill>
                  <a:srgbClr val="93C5FD"/>
                </a:solidFill>
                <a:latin typeface="DejaVu Sans"/>
              </a:rPr>
              <a:t>PayKX – Ví điện tử cho sinh viên | Xin cảm ơn thầy/cô!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